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DM Sans Medium" pitchFamily="2" charset="0"/>
      <p:regular r:id="rId17"/>
    </p:embeddedFont>
    <p:embeddedFont>
      <p:font typeface="Inter" panose="020B0604020202020204" charset="0"/>
      <p:regular r:id="rId18"/>
    </p:embeddedFont>
    <p:embeddedFont>
      <p:font typeface="Noto Sans SC" panose="020B0604020202020204" charset="0"/>
      <p:regular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33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50480-8D6B-4B66-353A-6D25E7383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D2D1F7-B13F-41DB-B43D-CBC39F1B6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7F1986-37A8-7B7D-7D24-0A59B92E4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16AA1-2B8E-C03F-155D-722BE09D69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533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905" y="275313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ХранительПРО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1078110" y="12158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ПМ.11 Разработка, администрирование и защита баз данных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773738"/>
            <a:ext cx="13042821" cy="1690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857250" y="49028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Студент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57250" y="5484019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Путников Дмитрий Васильевич</a:t>
            </a:r>
            <a:endParaRPr lang="en-US" sz="17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EFEF22-48A3-BF3B-9F9B-4FF913D5273D}"/>
              </a:ext>
            </a:extLst>
          </p:cNvPr>
          <p:cNvSpPr txBox="1"/>
          <p:nvPr/>
        </p:nvSpPr>
        <p:spPr>
          <a:xfrm>
            <a:off x="3941921" y="343647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ru-RU" altLang="ru-RU" sz="1800" dirty="0">
                <a:solidFill>
                  <a:sysClr val="windowText" lastClr="000000"/>
                </a:solidFill>
              </a:rPr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 eaLnBrk="1" hangingPunct="1"/>
            <a:r>
              <a:rPr lang="ru-RU" altLang="ru-RU" sz="1800" dirty="0">
                <a:solidFill>
                  <a:sysClr val="windowText" lastClr="000000"/>
                </a:solidFill>
              </a:rPr>
              <a:t>«Слободской колледж педагогики и социальных отношений»</a:t>
            </a:r>
          </a:p>
        </p:txBody>
      </p:sp>
      <p:pic>
        <p:nvPicPr>
          <p:cNvPr id="12" name="Picture 14" descr="touch-icon-ipad-retina">
            <a:extLst>
              <a:ext uri="{FF2B5EF4-FFF2-40B4-BE49-F238E27FC236}">
                <a16:creationId xmlns:a16="http://schemas.microsoft.com/office/drawing/2014/main" id="{CFBB7716-C69E-CE8F-A83F-96247B05F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216" y="99715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03AC1DAC-A9D3-28AF-1562-5EC808D84599}"/>
              </a:ext>
            </a:extLst>
          </p:cNvPr>
          <p:cNvSpPr/>
          <p:nvPr/>
        </p:nvSpPr>
        <p:spPr>
          <a:xfrm>
            <a:off x="9041942" y="4455862"/>
            <a:ext cx="5340808" cy="3055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Выполнил:</a:t>
            </a:r>
            <a:r>
              <a:rPr lang="en-US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ru-RU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Путников Дмитрий Васильевич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Группа 23П-2, специальность 09.02.07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«Информационные системы и программирование»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Форма обучения: очная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Руководитель:</a:t>
            </a:r>
            <a:r>
              <a:rPr lang="en-US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ru-RU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Калинин Арсений Олегович</a:t>
            </a:r>
            <a:endParaRPr lang="en-US" dirty="0"/>
          </a:p>
        </p:txBody>
      </p:sp>
      <p:sp useBgFill="1"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BC1AE8B-3CED-1BC4-8A4E-BD13479E1F75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FC6919E7-B659-E6EC-7866-BAE6648C902D}"/>
              </a:ext>
            </a:extLst>
          </p:cNvPr>
          <p:cNvSpPr/>
          <p:nvPr/>
        </p:nvSpPr>
        <p:spPr>
          <a:xfrm>
            <a:off x="5836800" y="7894649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2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г.</a:t>
            </a:r>
            <a:r>
              <a:rPr lang="en-US" sz="2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Слободской</a:t>
            </a:r>
            <a:r>
              <a:rPr lang="ru-RU" sz="2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2026г.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44260" y="732235"/>
            <a:ext cx="6317218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Цели и задачи практики</a:t>
            </a:r>
            <a:endParaRPr lang="en-US" sz="4150" dirty="0"/>
          </a:p>
        </p:txBody>
      </p:sp>
      <p:sp>
        <p:nvSpPr>
          <p:cNvPr id="5" name="Text 3"/>
          <p:cNvSpPr/>
          <p:nvPr/>
        </p:nvSpPr>
        <p:spPr>
          <a:xfrm>
            <a:off x="803612" y="1929828"/>
            <a:ext cx="13141881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рамках производственной практики по модулю ПМ.11 необходимо было реализовать полноценную систему контроля физического доступа на объект критической информационной инфраструктуры.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44260" y="2967276"/>
            <a:ext cx="6471285" cy="2206585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767120" y="2990136"/>
            <a:ext cx="6425565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3820358" y="3109793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979765" y="382738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База данных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979765" y="4279225"/>
            <a:ext cx="600027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Разработать реляционную базу данных из </a:t>
            </a:r>
            <a:r>
              <a:rPr lang="en-US" sz="16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таблиц</a:t>
            </a: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 PostgreSQL с соблюдением нормальных форм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414855" y="2967276"/>
            <a:ext cx="6471285" cy="2206585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7437715" y="2990136"/>
            <a:ext cx="6425565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10490954" y="3109793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650361" y="382738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Приложения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7650361" y="4279225"/>
            <a:ext cx="600027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Разработать </a:t>
            </a:r>
            <a:r>
              <a:rPr lang="en-US" sz="16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настольных приложения</a:t>
            </a: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на платформе WPF (C#) для разных ролей пользователей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44260" y="5373172"/>
            <a:ext cx="6471285" cy="2206585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767120" y="5396032"/>
            <a:ext cx="6425565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3820358" y="551568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979765" y="6233279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Авторизация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979765" y="6685121"/>
            <a:ext cx="600027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Реализовать </a:t>
            </a:r>
            <a:r>
              <a:rPr lang="en-US" sz="16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способа авторизации</a:t>
            </a: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через SQL-запрос, хранимую процедуру и ORM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414855" y="5373172"/>
            <a:ext cx="6471285" cy="2206585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7437715" y="5396032"/>
            <a:ext cx="6425565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10490954" y="551568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7650361" y="6233279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Отчёты и триггеры</a:t>
            </a:r>
            <a:endParaRPr lang="en-US" sz="2050" dirty="0"/>
          </a:p>
        </p:txBody>
      </p:sp>
      <p:sp>
        <p:nvSpPr>
          <p:cNvPr id="25" name="Text 23"/>
          <p:cNvSpPr/>
          <p:nvPr/>
        </p:nvSpPr>
        <p:spPr>
          <a:xfrm>
            <a:off x="7650361" y="6685121"/>
            <a:ext cx="600027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Создать автоматические </a:t>
            </a:r>
            <a:r>
              <a:rPr lang="en-US" sz="16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отчёты</a:t>
            </a: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триггеры для обеспечения целостности данных</a:t>
            </a:r>
            <a:endParaRPr lang="en-US" sz="1650" dirty="0"/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C0A63881-7EA1-A127-EDEF-CF5DF2061F43}"/>
              </a:ext>
            </a:extLst>
          </p:cNvPr>
          <p:cNvSpPr/>
          <p:nvPr/>
        </p:nvSpPr>
        <p:spPr>
          <a:xfrm>
            <a:off x="744260" y="1515554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 useBgFill="1"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D08632D-7B6E-095E-357B-7DD210AAFD25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21187" y="747950"/>
            <a:ext cx="7642146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Диаграмма вариантов использования</a:t>
            </a:r>
            <a:endParaRPr lang="en-US" sz="3200" dirty="0"/>
          </a:p>
        </p:txBody>
      </p:sp>
      <p:sp>
        <p:nvSpPr>
          <p:cNvPr id="7" name="Shape 3"/>
          <p:cNvSpPr/>
          <p:nvPr/>
        </p:nvSpPr>
        <p:spPr>
          <a:xfrm>
            <a:off x="689610" y="2056923"/>
            <a:ext cx="45720" cy="1313974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4"/>
          <p:cNvSpPr/>
          <p:nvPr/>
        </p:nvSpPr>
        <p:spPr>
          <a:xfrm>
            <a:off x="921187" y="2079783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Гость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21187" y="2451734"/>
            <a:ext cx="2139672" cy="896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Подача заявки на посещение объекта без предварительной авторизации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184446" y="2056923"/>
            <a:ext cx="45720" cy="1313974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7"/>
          <p:cNvSpPr/>
          <p:nvPr/>
        </p:nvSpPr>
        <p:spPr>
          <a:xfrm>
            <a:off x="3416022" y="2079783"/>
            <a:ext cx="2139791" cy="509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Авторизованный пользователь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416022" y="2706528"/>
            <a:ext cx="2139791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Вход в систему, просмотр статуса поданных заявок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89610" y="3559491"/>
            <a:ext cx="45720" cy="1344692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0"/>
          <p:cNvSpPr/>
          <p:nvPr/>
        </p:nvSpPr>
        <p:spPr>
          <a:xfrm>
            <a:off x="921187" y="3582351"/>
            <a:ext cx="2139672" cy="509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Сотрудник общего отдела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921187" y="4209096"/>
            <a:ext cx="2139672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 заявками, формирование и выдача пропусков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3184446" y="3559491"/>
            <a:ext cx="45720" cy="1344692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3"/>
          <p:cNvSpPr/>
          <p:nvPr/>
        </p:nvSpPr>
        <p:spPr>
          <a:xfrm>
            <a:off x="3416022" y="3582351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Сотрудник охраны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416022" y="3954303"/>
            <a:ext cx="2139791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пропусков на КПП, ведение журнала проходов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89610" y="5092778"/>
            <a:ext cx="45720" cy="865823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6"/>
          <p:cNvSpPr/>
          <p:nvPr/>
        </p:nvSpPr>
        <p:spPr>
          <a:xfrm>
            <a:off x="921187" y="5115638"/>
            <a:ext cx="264235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Сотрудник подразделения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921187" y="5487590"/>
            <a:ext cx="4634627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Согласование заявок, управление списком сотрудников отдела</a:t>
            </a:r>
            <a:endParaRPr lang="en-US" sz="1250" dirty="0"/>
          </a:p>
        </p:txBody>
      </p:sp>
      <p:sp useBgFill="1"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234A396-FE78-3D47-9C0D-2EA09DBBBD7D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D4111431-723A-926A-B009-1109A31DF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399" y="1666179"/>
            <a:ext cx="8101009" cy="6437997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0BEED1DB-96B9-9F64-8D2F-BA28C4635E6D}"/>
              </a:ext>
            </a:extLst>
          </p:cNvPr>
          <p:cNvSpPr/>
          <p:nvPr/>
        </p:nvSpPr>
        <p:spPr>
          <a:xfrm>
            <a:off x="744260" y="1515554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1047" y="73218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ER-диаграмма базы данных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761047" y="1503336"/>
            <a:ext cx="10760035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База данных системы «ХранительПРО» включает </a:t>
            </a:r>
            <a:r>
              <a:rPr lang="en-US" sz="12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взаимосвязанных таблиц</a:t>
            </a: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организованных в соответствии с третьей нормальной формой (3НФ). Между таблицами установлены связи типа </a:t>
            </a:r>
            <a:r>
              <a:rPr lang="en-US" sz="12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1:M</a:t>
            </a: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</a:t>
            </a:r>
            <a:r>
              <a:rPr lang="en-US" sz="12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</a:t>
            </a: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 useBgFill="1">
        <p:nvSpPr>
          <p:cNvPr id="8" name="Прямоугольник 7">
            <a:extLst>
              <a:ext uri="{FF2B5EF4-FFF2-40B4-BE49-F238E27FC236}">
                <a16:creationId xmlns:a16="http://schemas.microsoft.com/office/drawing/2014/main" id="{E517C4BD-8052-D8BF-C2CD-0E08F8FF52A7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2FBF6293-B717-45E0-5D6F-0368B95E90F4}"/>
              </a:ext>
            </a:extLst>
          </p:cNvPr>
          <p:cNvSpPr/>
          <p:nvPr/>
        </p:nvSpPr>
        <p:spPr>
          <a:xfrm>
            <a:off x="761047" y="12050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2A93B40-77D9-9555-D27D-FE41BE41E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280" y="2018716"/>
            <a:ext cx="10968866" cy="59990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06993" y="555903"/>
            <a:ext cx="5050393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Схема базы данных</a:t>
            </a:r>
            <a:endParaRPr lang="en-US" sz="3950" dirty="0"/>
          </a:p>
        </p:txBody>
      </p:sp>
      <p:sp>
        <p:nvSpPr>
          <p:cNvPr id="5" name="Shape 3"/>
          <p:cNvSpPr/>
          <p:nvPr/>
        </p:nvSpPr>
        <p:spPr>
          <a:xfrm>
            <a:off x="602293" y="1423808"/>
            <a:ext cx="4738767" cy="4004586"/>
          </a:xfrm>
          <a:prstGeom prst="roundRect">
            <a:avLst>
              <a:gd name="adj" fmla="val 526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6" name="Text 4"/>
          <p:cNvSpPr/>
          <p:nvPr/>
        </p:nvSpPr>
        <p:spPr>
          <a:xfrm>
            <a:off x="706993" y="1660623"/>
            <a:ext cx="2958346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Структура БД в pgAdmin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06993" y="2026355"/>
            <a:ext cx="4367371" cy="1253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Схема базы данных PostgreSQL, визуализированная в среде pgAdmin, отображает все таблицы, их поля и связи между ними.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02293" y="3295476"/>
            <a:ext cx="4682331" cy="45719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602293" y="3356628"/>
            <a:ext cx="4204811" cy="1856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Первичные и внешние ключи для каждой таблицы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Индексы для оптимизации запросов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Ограничения целостности данных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Каскадные операции обновления и удаления</a:t>
            </a:r>
            <a:endParaRPr lang="en-US" sz="1550" dirty="0"/>
          </a:p>
        </p:txBody>
      </p:sp>
      <p:sp useBgFill="1">
        <p:nvSpPr>
          <p:cNvPr id="34" name="Прямоугольник 33">
            <a:extLst>
              <a:ext uri="{FF2B5EF4-FFF2-40B4-BE49-F238E27FC236}">
                <a16:creationId xmlns:a16="http://schemas.microsoft.com/office/drawing/2014/main" id="{51ED4381-2C7C-B2C7-360B-7786CDFA97E0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F040BBC5-EADE-BA14-6BA1-B1D4294C5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321" y="1441174"/>
            <a:ext cx="8967319" cy="5701448"/>
          </a:xfrm>
          <a:prstGeom prst="rect">
            <a:avLst/>
          </a:prstGeom>
        </p:spPr>
      </p:pic>
      <p:sp>
        <p:nvSpPr>
          <p:cNvPr id="36" name="Shape 1">
            <a:extLst>
              <a:ext uri="{FF2B5EF4-FFF2-40B4-BE49-F238E27FC236}">
                <a16:creationId xmlns:a16="http://schemas.microsoft.com/office/drawing/2014/main" id="{F30A1358-2F39-003D-6F08-A6DB22B27F1A}"/>
              </a:ext>
            </a:extLst>
          </p:cNvPr>
          <p:cNvSpPr/>
          <p:nvPr/>
        </p:nvSpPr>
        <p:spPr>
          <a:xfrm>
            <a:off x="706993" y="118717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82299" y="411879"/>
            <a:ext cx="5847993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Диаграмма деятельности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782299" y="1406679"/>
            <a:ext cx="5743337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Процесс добавления посетителя в чёрный список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782299" y="1921549"/>
            <a:ext cx="3849132" cy="260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Алгоритм автоматической блокировки срабатывает при обнаружении </a:t>
            </a:r>
            <a:r>
              <a:rPr lang="en-US" sz="14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двух и более отклонённых заявок</a:t>
            </a: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от одного посетителя. Триггер базы данных отслеживает статусы заявок и при выполнении условия автоматически вносит запись в таблицу </a:t>
            </a: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blacklist</a:t>
            </a: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исключая дальнейшую подачу заявок данным лицом.</a:t>
            </a:r>
            <a:endParaRPr lang="en-US" sz="1450" dirty="0"/>
          </a:p>
        </p:txBody>
      </p:sp>
      <p:sp useBgFill="1"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4D86D2-9C95-4FCF-E3A3-16F9B206317B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F21DA7F4-BF31-7B47-0B00-241656AD9181}"/>
              </a:ext>
            </a:extLst>
          </p:cNvPr>
          <p:cNvSpPr/>
          <p:nvPr/>
        </p:nvSpPr>
        <p:spPr>
          <a:xfrm>
            <a:off x="706993" y="10549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3F1C8FF-ED95-7BDF-1A0B-07E76AE29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323" y="1219372"/>
            <a:ext cx="5743337" cy="68156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9368" y="336925"/>
            <a:ext cx="6133743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Архитектура приложений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2228" y="1416368"/>
            <a:ext cx="6395204" cy="1777246"/>
          </a:xfrm>
          <a:prstGeom prst="roundRect">
            <a:avLst>
              <a:gd name="adj" fmla="val 6174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659368" y="1416368"/>
            <a:ext cx="91440" cy="1777246"/>
          </a:xfrm>
          <a:prstGeom prst="roundRect">
            <a:avLst>
              <a:gd name="adj" fmla="val 31977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968573" y="1634133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PractikaPM11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8573" y="2106097"/>
            <a:ext cx="5891093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Основное приложение для </a:t>
            </a:r>
            <a:r>
              <a:rPr lang="en-US" sz="15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посетителей</a:t>
            </a:r>
            <a:r>
              <a:rPr lang="en-US" sz="15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</a:t>
            </a:r>
            <a:r>
              <a:rPr lang="en-US" sz="15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сотрудников общего отдела</a:t>
            </a:r>
            <a:r>
              <a:rPr lang="en-US" sz="15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Подача заявок, управление пропусками, формирование отчётов.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2228" y="3361016"/>
            <a:ext cx="6395204" cy="1487329"/>
          </a:xfrm>
          <a:prstGeom prst="roundRect">
            <a:avLst>
              <a:gd name="adj" fmla="val 7378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659368" y="3361016"/>
            <a:ext cx="91440" cy="1487329"/>
          </a:xfrm>
          <a:prstGeom prst="roundRect">
            <a:avLst>
              <a:gd name="adj" fmla="val 31977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968573" y="3578781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SecurityTerminal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8573" y="4050745"/>
            <a:ext cx="5891093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Терминал для </a:t>
            </a:r>
            <a:r>
              <a:rPr lang="en-US" sz="15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сотрудников охраны</a:t>
            </a:r>
            <a:r>
              <a:rPr lang="en-US" sz="15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Проверка пропусков на КПП, ведение журнала проходов, работа с чёрным списком.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2228" y="5015746"/>
            <a:ext cx="6395204" cy="1487329"/>
          </a:xfrm>
          <a:prstGeom prst="roundRect">
            <a:avLst>
              <a:gd name="adj" fmla="val 7378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659368" y="5015746"/>
            <a:ext cx="91440" cy="1487329"/>
          </a:xfrm>
          <a:prstGeom prst="roundRect">
            <a:avLst>
              <a:gd name="adj" fmla="val 31977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968573" y="5233512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DepartmentTerminal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68573" y="5705475"/>
            <a:ext cx="5891093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Терминал для </a:t>
            </a:r>
            <a:r>
              <a:rPr lang="en-US" sz="15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сотрудников подразделений</a:t>
            </a:r>
            <a:r>
              <a:rPr lang="en-US" sz="15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Согласование заявок, управление списком сотрудников отдела.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60588" y="1395413"/>
            <a:ext cx="2638306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Технологический стек</a:t>
            </a:r>
            <a:endParaRPr lang="en-US" sz="19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60588" y="1888332"/>
            <a:ext cx="487323" cy="48732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257223" y="1888332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C# / WPF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8257223" y="2360295"/>
            <a:ext cx="5698569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Язык программирования и фреймворк для разработки настольных приложений с графическим интерфейсом</a:t>
            </a:r>
            <a:endParaRPr lang="en-US" sz="15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0588" y="3275053"/>
            <a:ext cx="487323" cy="48732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257223" y="3275053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PostgreSQL / Npgsql</a:t>
            </a:r>
            <a:endParaRPr lang="en-US" sz="1900" dirty="0"/>
          </a:p>
        </p:txBody>
      </p:sp>
      <p:sp>
        <p:nvSpPr>
          <p:cNvPr id="23" name="Text 19"/>
          <p:cNvSpPr/>
          <p:nvPr/>
        </p:nvSpPr>
        <p:spPr>
          <a:xfrm>
            <a:off x="8257223" y="3747016"/>
            <a:ext cx="5698569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Реляционная СУБД и библиотека для подключения .NET-приложений к PostgreSQL</a:t>
            </a:r>
            <a:endParaRPr lang="en-US" sz="15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60588" y="4661773"/>
            <a:ext cx="487323" cy="48732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57223" y="4661773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.NET 8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8257223" y="5133737"/>
            <a:ext cx="5698569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Современная кроссплатформенная среда выполнения для разработки приложений</a:t>
            </a:r>
            <a:endParaRPr lang="en-US" sz="1500" dirty="0"/>
          </a:p>
        </p:txBody>
      </p:sp>
      <p:sp useBgFill="1"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2975B31-5FE7-DE04-453B-C4ADB4142421}"/>
              </a:ext>
            </a:extLst>
          </p:cNvPr>
          <p:cNvSpPr/>
          <p:nvPr/>
        </p:nvSpPr>
        <p:spPr>
          <a:xfrm>
            <a:off x="12879659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B99555D5-37FC-186C-1066-0ACDD12E2604}"/>
              </a:ext>
            </a:extLst>
          </p:cNvPr>
          <p:cNvSpPr/>
          <p:nvPr/>
        </p:nvSpPr>
        <p:spPr>
          <a:xfrm>
            <a:off x="706993" y="10549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8DD0C-FF47-D7BB-79B2-27CDD0831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3AAC611-DD74-8C3B-EC18-59572C7BDB11}"/>
              </a:ext>
            </a:extLst>
          </p:cNvPr>
          <p:cNvSpPr/>
          <p:nvPr/>
        </p:nvSpPr>
        <p:spPr>
          <a:xfrm>
            <a:off x="189963" y="373559"/>
            <a:ext cx="6657023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450"/>
              </a:lnSpc>
              <a:buNone/>
            </a:pPr>
            <a:r>
              <a:rPr lang="en-US" sz="4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Интерфейс приложений</a:t>
            </a:r>
            <a:endParaRPr lang="en-US" sz="43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8B39CB3-A36B-B20A-13ED-732DA5398AB1}"/>
              </a:ext>
            </a:extLst>
          </p:cNvPr>
          <p:cNvSpPr/>
          <p:nvPr/>
        </p:nvSpPr>
        <p:spPr>
          <a:xfrm>
            <a:off x="706993" y="1314605"/>
            <a:ext cx="1306758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>
              <a:lnSpc>
                <a:spcPts val="27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три приложения разработаны с единым визуальным стилем и адаптированы под роль конкретного пользователя. Ниже представлены ключевые экраны системы «ХранительПРО».</a:t>
            </a:r>
            <a:endParaRPr lang="en-US" sz="1750" dirty="0"/>
          </a:p>
        </p:txBody>
      </p:sp>
      <p:sp useBgFill="1"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766A6CF-C91E-6BD5-F5B3-5D1391E3E21C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2F838A98-13DF-3AE0-0C88-BE4AD8FCD99C}"/>
              </a:ext>
            </a:extLst>
          </p:cNvPr>
          <p:cNvSpPr/>
          <p:nvPr/>
        </p:nvSpPr>
        <p:spPr>
          <a:xfrm>
            <a:off x="706993" y="10549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1F96949D-BA38-EE45-23D6-A1B0DBFB9C08}"/>
              </a:ext>
            </a:extLst>
          </p:cNvPr>
          <p:cNvSpPr/>
          <p:nvPr/>
        </p:nvSpPr>
        <p:spPr>
          <a:xfrm>
            <a:off x="706993" y="2676791"/>
            <a:ext cx="4355783" cy="2344460"/>
          </a:xfrm>
          <a:prstGeom prst="roundRect">
            <a:avLst>
              <a:gd name="adj" fmla="val 1429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7EB0D737-DA60-14D3-44AD-72CA43D4EA7D}"/>
              </a:ext>
            </a:extLst>
          </p:cNvPr>
          <p:cNvSpPr/>
          <p:nvPr/>
        </p:nvSpPr>
        <p:spPr>
          <a:xfrm>
            <a:off x="2048589" y="2900034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Окно авторизации</a:t>
            </a:r>
            <a:endParaRPr lang="en-US" sz="215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5E4BC081-1B4A-FE12-72DB-4C687EBABEB2}"/>
              </a:ext>
            </a:extLst>
          </p:cNvPr>
          <p:cNvSpPr/>
          <p:nvPr/>
        </p:nvSpPr>
        <p:spPr>
          <a:xfrm>
            <a:off x="930235" y="3380689"/>
            <a:ext cx="39092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Единая точка входа с поддержкой трёх методов аутентификации: SQL-запрос, хранимая процедура, ORM (Entity Framework)</a:t>
            </a:r>
            <a:endParaRPr lang="en-US" sz="1750" dirty="0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2C311BC8-9A18-7AA1-EEB8-09EF92C13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390" y="2178087"/>
            <a:ext cx="5220429" cy="5839640"/>
          </a:xfrm>
          <a:prstGeom prst="rect">
            <a:avLst/>
          </a:prstGeom>
        </p:spPr>
      </p:pic>
      <p:sp>
        <p:nvSpPr>
          <p:cNvPr id="32" name="Shape 8">
            <a:extLst>
              <a:ext uri="{FF2B5EF4-FFF2-40B4-BE49-F238E27FC236}">
                <a16:creationId xmlns:a16="http://schemas.microsoft.com/office/drawing/2014/main" id="{F42EC2C6-9FD1-D36A-3AE6-07770F52E32B}"/>
              </a:ext>
            </a:extLst>
          </p:cNvPr>
          <p:cNvSpPr/>
          <p:nvPr/>
        </p:nvSpPr>
        <p:spPr>
          <a:xfrm>
            <a:off x="685254" y="2676791"/>
            <a:ext cx="4355902" cy="2344460"/>
          </a:xfrm>
          <a:prstGeom prst="rect">
            <a:avLst/>
          </a:prstGeom>
          <a:solidFill>
            <a:srgbClr val="EDEBE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703D3C3B-2817-F86E-C630-DAF2CF3354B5}"/>
              </a:ext>
            </a:extLst>
          </p:cNvPr>
          <p:cNvSpPr/>
          <p:nvPr/>
        </p:nvSpPr>
        <p:spPr>
          <a:xfrm>
            <a:off x="908496" y="2900034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Подача заявки</a:t>
            </a:r>
            <a:endParaRPr lang="en-US" sz="215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5EFEFBEB-5D3B-AE23-70C0-F52E34D9034A}"/>
              </a:ext>
            </a:extLst>
          </p:cNvPr>
          <p:cNvSpPr/>
          <p:nvPr/>
        </p:nvSpPr>
        <p:spPr>
          <a:xfrm>
            <a:off x="908496" y="3380689"/>
            <a:ext cx="390941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 для посетителя: ввод персональных данных, выбор подразделения, указание цели и даты визита</a:t>
            </a:r>
            <a:endParaRPr lang="en-US" sz="1750" dirty="0"/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CC84005A-70D0-9A03-04BE-39C5B90705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766" y="2040284"/>
            <a:ext cx="6747437" cy="5977443"/>
          </a:xfrm>
          <a:prstGeom prst="rect">
            <a:avLst/>
          </a:prstGeom>
        </p:spPr>
      </p:pic>
      <p:sp>
        <p:nvSpPr>
          <p:cNvPr id="37" name="Shape 12">
            <a:extLst>
              <a:ext uri="{FF2B5EF4-FFF2-40B4-BE49-F238E27FC236}">
                <a16:creationId xmlns:a16="http://schemas.microsoft.com/office/drawing/2014/main" id="{8475B80C-7CF0-2737-EBAB-3DFE59D5228B}"/>
              </a:ext>
            </a:extLst>
          </p:cNvPr>
          <p:cNvSpPr/>
          <p:nvPr/>
        </p:nvSpPr>
        <p:spPr>
          <a:xfrm>
            <a:off x="695599" y="2676791"/>
            <a:ext cx="4355783" cy="2344460"/>
          </a:xfrm>
          <a:prstGeom prst="rect">
            <a:avLst/>
          </a:prstGeom>
          <a:solidFill>
            <a:srgbClr val="EDEBE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EFDD78E5-EE03-9410-4E59-020994DE54B4}"/>
              </a:ext>
            </a:extLst>
          </p:cNvPr>
          <p:cNvSpPr/>
          <p:nvPr/>
        </p:nvSpPr>
        <p:spPr>
          <a:xfrm>
            <a:off x="918841" y="2900034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Терминал охраны</a:t>
            </a:r>
            <a:endParaRPr lang="en-US" sz="215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47CB26B3-7D59-9624-A963-210B68F58467}"/>
              </a:ext>
            </a:extLst>
          </p:cNvPr>
          <p:cNvSpPr/>
          <p:nvPr/>
        </p:nvSpPr>
        <p:spPr>
          <a:xfrm>
            <a:off x="918841" y="3380689"/>
            <a:ext cx="39092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Сканирование и проверка пропусков, отображение фото посетителя, фиксация прохода в журнале</a:t>
            </a:r>
            <a:endParaRPr lang="en-US" sz="1750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292611DF-E247-18D4-A853-2C67143355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2885" y="2023265"/>
            <a:ext cx="8950948" cy="5994462"/>
          </a:xfrm>
          <a:prstGeom prst="rect">
            <a:avLst/>
          </a:prstGeom>
        </p:spPr>
      </p:pic>
      <p:sp>
        <p:nvSpPr>
          <p:cNvPr id="42" name="Shape 12">
            <a:extLst>
              <a:ext uri="{FF2B5EF4-FFF2-40B4-BE49-F238E27FC236}">
                <a16:creationId xmlns:a16="http://schemas.microsoft.com/office/drawing/2014/main" id="{69E97583-6465-18C1-EC2E-B337B76CCC4D}"/>
              </a:ext>
            </a:extLst>
          </p:cNvPr>
          <p:cNvSpPr/>
          <p:nvPr/>
        </p:nvSpPr>
        <p:spPr>
          <a:xfrm>
            <a:off x="685254" y="2657167"/>
            <a:ext cx="4355783" cy="2344460"/>
          </a:xfrm>
          <a:prstGeom prst="rect">
            <a:avLst/>
          </a:prstGeom>
          <a:solidFill>
            <a:srgbClr val="EDEBE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965826A6-0272-8DBC-39CD-773A8164573B}"/>
              </a:ext>
            </a:extLst>
          </p:cNvPr>
          <p:cNvSpPr/>
          <p:nvPr/>
        </p:nvSpPr>
        <p:spPr>
          <a:xfrm>
            <a:off x="842113" y="2912616"/>
            <a:ext cx="352877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Терминал подразделения</a:t>
            </a:r>
            <a:endParaRPr lang="en-US" sz="215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FDA7D7E4-E529-8360-F3FC-DF24E5DB1E63}"/>
              </a:ext>
            </a:extLst>
          </p:cNvPr>
          <p:cNvSpPr/>
          <p:nvPr/>
        </p:nvSpPr>
        <p:spPr>
          <a:xfrm>
            <a:off x="842114" y="3393272"/>
            <a:ext cx="42482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Список входящих заявок, кнопки согласования/отклонения, просмотр профиля посетителя</a:t>
            </a:r>
            <a:endParaRPr lang="en-US" sz="1750" dirty="0"/>
          </a:p>
        </p:txBody>
      </p:sp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DD169BA7-A7E5-2BEB-95ED-1E9D1D1F27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8015" y="2040284"/>
            <a:ext cx="9095978" cy="599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7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29" grpId="0" animBg="1"/>
      <p:bldP spid="32" grpId="0" animBg="1"/>
      <p:bldP spid="33" grpId="0" animBg="1"/>
      <p:bldP spid="34" grpId="0" animBg="1"/>
      <p:bldP spid="37" grpId="0" animBg="1"/>
      <p:bldP spid="38" grpId="0" animBg="1"/>
      <p:bldP spid="39" grpId="0" animBg="1"/>
      <p:bldP spid="42" grpId="0" animBg="1"/>
      <p:bldP spid="43" grpId="0" animBg="1"/>
      <p:bldP spid="4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94611" y="39758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Запросы и триггеры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42474" y="1465897"/>
            <a:ext cx="272260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Объекты базы данных</a:t>
            </a:r>
            <a:endParaRPr lang="en-US" sz="1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6888" y="1977389"/>
            <a:ext cx="297656" cy="297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7316" y="197131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ViewListRequests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387316" y="2455068"/>
            <a:ext cx="5733693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Представление (VIEW) для отображения сводного списка заявок с данными посетителей, подразделений и статусов в одном запросе</a:t>
            </a:r>
            <a:endParaRPr lang="en-US" sz="15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6888" y="3701414"/>
            <a:ext cx="297656" cy="2976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87316" y="369534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FilteringRequests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1387316" y="4179093"/>
            <a:ext cx="5733693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Хранимая процедура для фильтрации заявок по дате, статусу и подразделению — используется в отчётах и терминалах</a:t>
            </a:r>
            <a:endParaRPr lang="en-US" sz="15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6888" y="5425439"/>
            <a:ext cx="297656" cy="2976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7316" y="5419367"/>
            <a:ext cx="323088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Триггер генерации логина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1387316" y="5903118"/>
            <a:ext cx="573369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Автоматически формирует уникальный логин посетителя при добавлении новой записи в таблицу </a:t>
            </a:r>
            <a:r>
              <a:rPr lang="en-US" sz="15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visitors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7393781" y="1569928"/>
            <a:ext cx="6664285" cy="5401389"/>
          </a:xfrm>
          <a:prstGeom prst="roundRect">
            <a:avLst>
              <a:gd name="adj" fmla="val 551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1"/>
          <p:cNvSpPr/>
          <p:nvPr/>
        </p:nvSpPr>
        <p:spPr>
          <a:xfrm>
            <a:off x="7592139" y="1743522"/>
            <a:ext cx="303014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Автосохранение отчётов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7592139" y="2227272"/>
            <a:ext cx="626756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Реализован механизм </a:t>
            </a: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автоматического сохранения отчётов каждые 3 часа</a:t>
            </a: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 формате HTML.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592139" y="3067377"/>
            <a:ext cx="6267569" cy="14883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4"/>
          <p:cNvSpPr/>
          <p:nvPr/>
        </p:nvSpPr>
        <p:spPr>
          <a:xfrm>
            <a:off x="7592139" y="3327053"/>
            <a:ext cx="6267569" cy="1372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Фоновый поток приложения запускает таймер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Вызывается процедура </a:t>
            </a:r>
            <a:r>
              <a:rPr lang="en-US" sz="1550" dirty="0">
                <a:solidFill>
                  <a:srgbClr val="FFFFFF"/>
                </a:solidFill>
                <a:highlight>
                  <a:srgbClr val="35353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FilteringRequests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 форматируется в HTML-шаблон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Файл сохраняется в директорию отчётов с меткой времени</a:t>
            </a:r>
            <a:endParaRPr lang="en-US" sz="1550" dirty="0"/>
          </a:p>
        </p:txBody>
      </p:sp>
      <p:sp useBgFill="1"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115B8E7-76EE-B7BD-0881-AA4D74F40679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A8559C59-DAA7-B72F-8D91-51CB3FA6C602}"/>
              </a:ext>
            </a:extLst>
          </p:cNvPr>
          <p:cNvSpPr/>
          <p:nvPr/>
        </p:nvSpPr>
        <p:spPr>
          <a:xfrm>
            <a:off x="706993" y="10549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94611" y="628949"/>
            <a:ext cx="515671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Результаты практики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94611" y="1645421"/>
            <a:ext cx="1324117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ходе производственной практики по модулю ПМ.11 успешно разработана и введена в эксплуатацию система контроля доступа «ХранительПРО».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94611" y="2759154"/>
            <a:ext cx="6512004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12</a:t>
            </a:r>
            <a:endParaRPr lang="en-US" sz="5150" dirty="0"/>
          </a:p>
        </p:txBody>
      </p:sp>
      <p:sp>
        <p:nvSpPr>
          <p:cNvPr id="7" name="Text 5"/>
          <p:cNvSpPr/>
          <p:nvPr/>
        </p:nvSpPr>
        <p:spPr>
          <a:xfrm>
            <a:off x="2710101" y="364343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Таблиц БД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94611" y="4057769"/>
            <a:ext cx="651200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Реляционная база данных в 3НФ на PostgreSQL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423666" y="2759154"/>
            <a:ext cx="6512123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5150" dirty="0"/>
          </a:p>
        </p:txBody>
      </p:sp>
      <p:sp>
        <p:nvSpPr>
          <p:cNvPr id="10" name="Text 8"/>
          <p:cNvSpPr/>
          <p:nvPr/>
        </p:nvSpPr>
        <p:spPr>
          <a:xfrm>
            <a:off x="9439275" y="364343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Приложения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23666" y="4057769"/>
            <a:ext cx="65121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WPF-приложения для всех ролей пользователей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94611" y="4801910"/>
            <a:ext cx="6512004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</a:t>
            </a:r>
            <a:endParaRPr lang="en-US" sz="5150" dirty="0"/>
          </a:p>
        </p:txBody>
      </p:sp>
      <p:sp>
        <p:nvSpPr>
          <p:cNvPr id="13" name="Text 11"/>
          <p:cNvSpPr/>
          <p:nvPr/>
        </p:nvSpPr>
        <p:spPr>
          <a:xfrm>
            <a:off x="2710101" y="56861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Уровней доступа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94611" y="6100524"/>
            <a:ext cx="651200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Разграничение прав для каждой роли в системе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423666" y="4801910"/>
            <a:ext cx="6512123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3ч</a:t>
            </a:r>
            <a:endParaRPr lang="en-US" sz="5150" dirty="0"/>
          </a:p>
        </p:txBody>
      </p:sp>
      <p:sp>
        <p:nvSpPr>
          <p:cNvPr id="16" name="Text 14"/>
          <p:cNvSpPr/>
          <p:nvPr/>
        </p:nvSpPr>
        <p:spPr>
          <a:xfrm>
            <a:off x="9439275" y="56861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Автосохранение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423666" y="6100524"/>
            <a:ext cx="65121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Периодичность автоматической генерации HTML-отчётов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94611" y="6593443"/>
            <a:ext cx="13241179" cy="1073825"/>
          </a:xfrm>
          <a:prstGeom prst="roundRect">
            <a:avLst>
              <a:gd name="adj" fmla="val 2772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69" y="6888718"/>
            <a:ext cx="248007" cy="19835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39334" y="6816566"/>
            <a:ext cx="1239809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Исходный код проекта загружен на </a:t>
            </a:r>
            <a:r>
              <a:rPr lang="en-US" sz="1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доступен для проверки. Все поставленные цели практики выполнены в полном объёме.</a:t>
            </a:r>
            <a:endParaRPr lang="en-US" sz="1550" dirty="0"/>
          </a:p>
        </p:txBody>
      </p:sp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17250AC-0432-CEA8-658B-62B3EEF0F202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D01D8A9F-734C-F1EF-6C04-259A2EA34C36}"/>
              </a:ext>
            </a:extLst>
          </p:cNvPr>
          <p:cNvSpPr/>
          <p:nvPr/>
        </p:nvSpPr>
        <p:spPr>
          <a:xfrm>
            <a:off x="694611" y="1263470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693</Words>
  <Application>Microsoft Office PowerPoint</Application>
  <PresentationFormat>Произвольный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DM Sans Medium</vt:lpstr>
      <vt:lpstr>Inter</vt:lpstr>
      <vt:lpstr>Noto Sans SC</vt:lpstr>
      <vt:lpstr>Consolas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Дмитрий Путников</cp:lastModifiedBy>
  <cp:revision>2</cp:revision>
  <dcterms:created xsi:type="dcterms:W3CDTF">2026-04-20T09:20:00Z</dcterms:created>
  <dcterms:modified xsi:type="dcterms:W3CDTF">2026-04-20T09:38:08Z</dcterms:modified>
</cp:coreProperties>
</file>